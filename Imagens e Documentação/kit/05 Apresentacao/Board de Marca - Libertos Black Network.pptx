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Proposta de rebranding: Libertos Black Network como marca-mãe do Clube dos Libertos.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Clube segue no letramento racial; a LBN assume o papel institucional e executivo.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Versão principal horizontal, vertical, símbolo isolado e selo LBN.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sol do Ceará redesenhado em grade: anel central e doze raios.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cores, hierarquia rígida. Proporção 60/15/25.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Archivo Expanded para display; Luciole permanece como 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Malha de sol, faixa tipográfica e grade de blocos.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Endosso: o Clube mantém sua identidade e recebe o selo da rede.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evento não ganha logo próprio: ganha bloco de assinatura com o 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nunca fazer com a marca.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1047750"/>
            <a:ext cx="345462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306" kern="0" dirty="0">
                <a:solidFill>
                  <a:srgbClr val="FF4B0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PROPOSTA DE REBRANDING</a:t>
            </a:r>
            <a:endParaRPr lang="en-US" sz="1275" dirty="0"/>
          </a:p>
        </p:txBody>
      </p:sp>
      <p:sp>
        <p:nvSpPr>
          <p:cNvPr id="4" name="Text 1"/>
          <p:cNvSpPr/>
          <p:nvPr/>
        </p:nvSpPr>
        <p:spPr>
          <a:xfrm>
            <a:off x="13977541" y="1047750"/>
            <a:ext cx="337943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306" kern="0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FORTALEZA · CEARÁ · 2026</a:t>
            </a:r>
            <a:endParaRPr lang="en-US" sz="1275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3440807"/>
            <a:ext cx="2381250" cy="23812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29100" y="3573066"/>
            <a:ext cx="9831715" cy="1272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326"/>
              </a:lnSpc>
              <a:buNone/>
            </a:pPr>
            <a:r>
              <a:rPr lang="en-US" sz="11850" b="1" spc="-355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LIBERTOS</a:t>
            </a:r>
            <a:endParaRPr lang="en-US" sz="11850" dirty="0"/>
          </a:p>
        </p:txBody>
      </p:sp>
      <p:sp>
        <p:nvSpPr>
          <p:cNvPr id="7" name="Shape 3"/>
          <p:cNvSpPr/>
          <p:nvPr/>
        </p:nvSpPr>
        <p:spPr>
          <a:xfrm>
            <a:off x="4229100" y="5054700"/>
            <a:ext cx="8937923" cy="57150"/>
          </a:xfrm>
          <a:prstGeom prst="rect">
            <a:avLst/>
          </a:prstGeom>
          <a:solidFill>
            <a:srgbClr val="FF4B0F"/>
          </a:solidFill>
          <a:ln/>
        </p:spPr>
      </p:sp>
      <p:sp>
        <p:nvSpPr>
          <p:cNvPr id="8" name="Text 4"/>
          <p:cNvSpPr/>
          <p:nvPr/>
        </p:nvSpPr>
        <p:spPr>
          <a:xfrm>
            <a:off x="4229100" y="5264250"/>
            <a:ext cx="9206061" cy="463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75" b="1" spc="584" kern="0" dirty="0">
                <a:solidFill>
                  <a:srgbClr val="FF4B0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BLACK NETWORK</a:t>
            </a:r>
            <a:endParaRPr lang="en-US" sz="3075" dirty="0"/>
          </a:p>
        </p:txBody>
      </p:sp>
      <p:sp>
        <p:nvSpPr>
          <p:cNvPr id="9" name="Text 5"/>
          <p:cNvSpPr/>
          <p:nvPr/>
        </p:nvSpPr>
        <p:spPr>
          <a:xfrm>
            <a:off x="1238250" y="8043565"/>
            <a:ext cx="8829675" cy="1233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694"/>
              </a:lnSpc>
              <a:buNone/>
            </a:pPr>
            <a:r>
              <a:rPr lang="en-US" sz="2025" dirty="0">
                <a:solidFill>
                  <a:srgbClr val="CFC9C1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A rede que conecta universitários negros do Nordeste a profissionais negros de todo o Brasil. Marca-mãe do Clube dos Libertos e casa do Encontro Libertos Black Network.</a:t>
            </a:r>
            <a:endParaRPr lang="en-US" sz="20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52500"/>
            <a:ext cx="3403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306" kern="0" dirty="0">
                <a:solidFill>
                  <a:srgbClr val="FF4B0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1673820" y="952500"/>
            <a:ext cx="224633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306" kern="0" dirty="0">
                <a:solidFill>
                  <a:srgbClr val="0A0A0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POSICIONAMENTO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238250" y="1543050"/>
            <a:ext cx="7381363" cy="2602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500"/>
              </a:lnSpc>
              <a:buNone/>
            </a:pPr>
            <a:r>
              <a:rPr lang="en-US" sz="4950" b="1" spc="-99" kern="0" dirty="0">
                <a:solidFill>
                  <a:srgbClr val="0A0A0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DA RODA DE CONVERSA PARA A MESA INSTITUCIONAL</a:t>
            </a:r>
            <a:endParaRPr lang="en-US" sz="4950" dirty="0"/>
          </a:p>
        </p:txBody>
      </p:sp>
      <p:sp>
        <p:nvSpPr>
          <p:cNvPr id="5" name="Text 3"/>
          <p:cNvSpPr/>
          <p:nvPr/>
        </p:nvSpPr>
        <p:spPr>
          <a:xfrm>
            <a:off x="1238250" y="4431506"/>
            <a:ext cx="7381363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75" dirty="0">
                <a:solidFill>
                  <a:srgbClr val="4A453F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O Clube dos Libertos segue como espaço de letramento racial e aquilombamento. A Libertos Black Network assume o papel institucional: rede profissional, executiva e empresarial, com interlocução direta com empresas e universidades.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9166622" y="1543050"/>
            <a:ext cx="7883128" cy="3558977"/>
          </a:xfrm>
          <a:prstGeom prst="rect">
            <a:avLst/>
          </a:prstGeom>
          <a:solidFill>
            <a:srgbClr val="D8D2C9"/>
          </a:solidFill>
          <a:ln/>
        </p:spPr>
      </p:sp>
      <p:sp>
        <p:nvSpPr>
          <p:cNvPr id="7" name="Shape 5"/>
          <p:cNvSpPr/>
          <p:nvPr/>
        </p:nvSpPr>
        <p:spPr>
          <a:xfrm>
            <a:off x="9166622" y="1543050"/>
            <a:ext cx="3932039" cy="55880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8" name="Text 6"/>
          <p:cNvSpPr/>
          <p:nvPr/>
        </p:nvSpPr>
        <p:spPr>
          <a:xfrm>
            <a:off x="9414272" y="1752600"/>
            <a:ext cx="355470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231" kern="0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3117711" y="1543050"/>
            <a:ext cx="3932039" cy="55880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0" name="Text 8"/>
          <p:cNvSpPr/>
          <p:nvPr/>
        </p:nvSpPr>
        <p:spPr>
          <a:xfrm>
            <a:off x="13365361" y="1752600"/>
            <a:ext cx="355470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231" kern="0" dirty="0">
                <a:solidFill>
                  <a:srgbClr val="FF4B0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PARA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66622" y="2120900"/>
            <a:ext cx="3932039" cy="940991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2" name="Text 10"/>
          <p:cNvSpPr/>
          <p:nvPr/>
        </p:nvSpPr>
        <p:spPr>
          <a:xfrm>
            <a:off x="9414272" y="2311400"/>
            <a:ext cx="3554700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71"/>
              </a:lnSpc>
              <a:buNone/>
            </a:pPr>
            <a:r>
              <a:rPr lang="en-US" sz="1575" dirty="0">
                <a:solidFill>
                  <a:srgbClr val="8A8580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Coletivo cearense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13117711" y="2120900"/>
            <a:ext cx="3932039" cy="940991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4" name="Text 12"/>
          <p:cNvSpPr/>
          <p:nvPr/>
        </p:nvSpPr>
        <p:spPr>
          <a:xfrm>
            <a:off x="13365361" y="2311400"/>
            <a:ext cx="3554700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71"/>
              </a:lnSpc>
              <a:buNone/>
            </a:pPr>
            <a:r>
              <a:rPr lang="en-US" sz="1575" b="1" dirty="0">
                <a:solidFill>
                  <a:srgbClr val="0A0A0A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Rede nordestina, alcance nacional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9166622" y="3080941"/>
            <a:ext cx="3932039" cy="660995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6" name="Text 14"/>
          <p:cNvSpPr/>
          <p:nvPr/>
        </p:nvSpPr>
        <p:spPr>
          <a:xfrm>
            <a:off x="9414272" y="3271441"/>
            <a:ext cx="3554700" cy="31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71"/>
              </a:lnSpc>
              <a:buNone/>
            </a:pPr>
            <a:r>
              <a:rPr lang="en-US" sz="1575" dirty="0">
                <a:solidFill>
                  <a:srgbClr val="8A8580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Paleta festiva de quatro cores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13117711" y="3080941"/>
            <a:ext cx="3932039" cy="660995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8" name="Text 16"/>
          <p:cNvSpPr/>
          <p:nvPr/>
        </p:nvSpPr>
        <p:spPr>
          <a:xfrm>
            <a:off x="13365361" y="3271441"/>
            <a:ext cx="3554700" cy="31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71"/>
              </a:lnSpc>
              <a:buNone/>
            </a:pPr>
            <a:r>
              <a:rPr lang="en-US" sz="1575" b="1" dirty="0">
                <a:solidFill>
                  <a:srgbClr val="0A0A0A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Preto, laranja e branco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9166622" y="3760986"/>
            <a:ext cx="3932039" cy="660995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20" name="Text 18"/>
          <p:cNvSpPr/>
          <p:nvPr/>
        </p:nvSpPr>
        <p:spPr>
          <a:xfrm>
            <a:off x="9414272" y="3951486"/>
            <a:ext cx="3554700" cy="31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71"/>
              </a:lnSpc>
              <a:buNone/>
            </a:pPr>
            <a:r>
              <a:rPr lang="en-US" sz="1575" dirty="0">
                <a:solidFill>
                  <a:srgbClr val="8A8580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Logotipo ilustrado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13117711" y="3760986"/>
            <a:ext cx="3932039" cy="660995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22" name="Text 20"/>
          <p:cNvSpPr/>
          <p:nvPr/>
        </p:nvSpPr>
        <p:spPr>
          <a:xfrm>
            <a:off x="13365361" y="3951486"/>
            <a:ext cx="3554700" cy="31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71"/>
              </a:lnSpc>
              <a:buNone/>
            </a:pPr>
            <a:r>
              <a:rPr lang="en-US" sz="1575" b="1" dirty="0">
                <a:solidFill>
                  <a:srgbClr val="0A0A0A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Logotipo geométrico e escalável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9166622" y="4441031"/>
            <a:ext cx="3932039" cy="660995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24" name="Text 22"/>
          <p:cNvSpPr/>
          <p:nvPr/>
        </p:nvSpPr>
        <p:spPr>
          <a:xfrm>
            <a:off x="9414272" y="4631531"/>
            <a:ext cx="3554700" cy="31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71"/>
              </a:lnSpc>
              <a:buNone/>
            </a:pPr>
            <a:r>
              <a:rPr lang="en-US" sz="1575" dirty="0">
                <a:solidFill>
                  <a:srgbClr val="8A8580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Tom acolhedor e cultural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13117711" y="4441031"/>
            <a:ext cx="3932039" cy="660995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26" name="Text 24"/>
          <p:cNvSpPr/>
          <p:nvPr/>
        </p:nvSpPr>
        <p:spPr>
          <a:xfrm>
            <a:off x="13365361" y="4631531"/>
            <a:ext cx="3554700" cy="31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71"/>
              </a:lnSpc>
              <a:buNone/>
            </a:pPr>
            <a:r>
              <a:rPr lang="en-US" sz="1575" b="1" dirty="0">
                <a:solidFill>
                  <a:srgbClr val="0A0A0A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Tom firme, com raiz preservada</a:t>
            </a:r>
            <a:endParaRPr lang="en-US" sz="15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52500"/>
            <a:ext cx="3403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306" kern="0" dirty="0">
                <a:solidFill>
                  <a:srgbClr val="FF4B0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1673820" y="952500"/>
            <a:ext cx="29438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306" kern="0" dirty="0">
                <a:solidFill>
                  <a:srgbClr val="0A0A0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ASSINATURA DA MARCA</a:t>
            </a:r>
            <a:endParaRPr lang="en-US" sz="1275" dirty="0"/>
          </a:p>
        </p:txBody>
      </p:sp>
      <p:sp>
        <p:nvSpPr>
          <p:cNvPr id="4" name="Shape 2"/>
          <p:cNvSpPr/>
          <p:nvPr/>
        </p:nvSpPr>
        <p:spPr>
          <a:xfrm>
            <a:off x="1238250" y="1543050"/>
            <a:ext cx="15811500" cy="2508250"/>
          </a:xfrm>
          <a:prstGeom prst="rect">
            <a:avLst/>
          </a:prstGeom>
          <a:ln w="6350">
            <a:solidFill>
              <a:srgbClr val="E4DFD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0975" y="2082800"/>
            <a:ext cx="1428750" cy="1428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78825" y="2185194"/>
            <a:ext cx="5475913" cy="72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167"/>
              </a:lnSpc>
              <a:buNone/>
            </a:pPr>
            <a:r>
              <a:rPr lang="en-US" sz="6600" b="1" spc="-198" kern="0" dirty="0">
                <a:solidFill>
                  <a:srgbClr val="0A0A0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LIBERTOS</a:t>
            </a:r>
            <a:endParaRPr lang="en-US" sz="6600" dirty="0"/>
          </a:p>
        </p:txBody>
      </p:sp>
      <p:sp>
        <p:nvSpPr>
          <p:cNvPr id="7" name="Shape 4"/>
          <p:cNvSpPr/>
          <p:nvPr/>
        </p:nvSpPr>
        <p:spPr>
          <a:xfrm>
            <a:off x="7578825" y="3024882"/>
            <a:ext cx="4978103" cy="44450"/>
          </a:xfrm>
          <a:prstGeom prst="rect">
            <a:avLst/>
          </a:prstGeom>
          <a:solidFill>
            <a:srgbClr val="FF4B0F"/>
          </a:solidFill>
          <a:ln/>
        </p:spPr>
      </p:sp>
      <p:sp>
        <p:nvSpPr>
          <p:cNvPr id="8" name="Text 5"/>
          <p:cNvSpPr/>
          <p:nvPr/>
        </p:nvSpPr>
        <p:spPr>
          <a:xfrm>
            <a:off x="7578825" y="3174107"/>
            <a:ext cx="5127446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spc="328" kern="0" dirty="0">
                <a:solidFill>
                  <a:srgbClr val="0A0A0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BLACK NETWORK</a:t>
            </a:r>
            <a:endParaRPr lang="en-US" sz="1725" dirty="0"/>
          </a:p>
        </p:txBody>
      </p:sp>
      <p:sp>
        <p:nvSpPr>
          <p:cNvPr id="9" name="Shape 6"/>
          <p:cNvSpPr/>
          <p:nvPr/>
        </p:nvSpPr>
        <p:spPr>
          <a:xfrm>
            <a:off x="1238250" y="4470400"/>
            <a:ext cx="3810000" cy="2393950"/>
          </a:xfrm>
          <a:prstGeom prst="rect">
            <a:avLst/>
          </a:prstGeom>
          <a:ln w="6350">
            <a:solidFill>
              <a:srgbClr val="E4DFD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725" y="4901307"/>
            <a:ext cx="781050" cy="7810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24968" y="5872857"/>
            <a:ext cx="2240220" cy="319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345"/>
              </a:lnSpc>
              <a:buNone/>
            </a:pPr>
            <a:r>
              <a:rPr lang="en-US" sz="2700" b="1" spc="-81" kern="0" dirty="0">
                <a:solidFill>
                  <a:srgbClr val="0A0A0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LIBERTOS</a:t>
            </a:r>
            <a:endParaRPr lang="en-US" sz="2700" dirty="0"/>
          </a:p>
        </p:txBody>
      </p:sp>
      <p:sp>
        <p:nvSpPr>
          <p:cNvPr id="12" name="Shape 8"/>
          <p:cNvSpPr/>
          <p:nvPr/>
        </p:nvSpPr>
        <p:spPr>
          <a:xfrm>
            <a:off x="2601516" y="6239669"/>
            <a:ext cx="1083370" cy="25400"/>
          </a:xfrm>
          <a:prstGeom prst="rect">
            <a:avLst/>
          </a:prstGeom>
          <a:solidFill>
            <a:srgbClr val="FF4B0F"/>
          </a:solidFill>
          <a:ln/>
        </p:spPr>
      </p:sp>
      <p:sp>
        <p:nvSpPr>
          <p:cNvPr id="13" name="Text 9"/>
          <p:cNvSpPr/>
          <p:nvPr/>
        </p:nvSpPr>
        <p:spPr>
          <a:xfrm>
            <a:off x="2601516" y="6331744"/>
            <a:ext cx="1159570" cy="139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42" kern="0" dirty="0">
                <a:solidFill>
                  <a:srgbClr val="0A0A0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BLACK NETWORK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238250" y="6978650"/>
            <a:ext cx="419100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210" kern="0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VERTICAL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238750" y="4470400"/>
            <a:ext cx="3810000" cy="2393950"/>
          </a:xfrm>
          <a:prstGeom prst="rect">
            <a:avLst/>
          </a:prstGeom>
          <a:ln w="6350">
            <a:solidFill>
              <a:srgbClr val="E4DFD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775" y="5105400"/>
            <a:ext cx="1123950" cy="11239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38750" y="6978650"/>
            <a:ext cx="419100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210" kern="0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SOL LIBERTO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9239250" y="4470400"/>
            <a:ext cx="3810000" cy="2393950"/>
          </a:xfrm>
          <a:prstGeom prst="rect">
            <a:avLst/>
          </a:prstGeom>
          <a:solidFill>
            <a:srgbClr val="0A0A0A"/>
          </a:solidFill>
          <a:ln w="6350">
            <a:solidFill>
              <a:srgbClr val="E4DFD7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0776" y="5057180"/>
            <a:ext cx="666750" cy="6667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24133" y="5876330"/>
            <a:ext cx="1364149" cy="439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795"/>
              </a:lnSpc>
              <a:buNone/>
            </a:pPr>
            <a:r>
              <a:rPr lang="en-US" sz="4050" b="1" spc="-142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LBN</a:t>
            </a:r>
            <a:endParaRPr lang="en-US" sz="4050" dirty="0"/>
          </a:p>
        </p:txBody>
      </p:sp>
      <p:sp>
        <p:nvSpPr>
          <p:cNvPr id="21" name="Text 15"/>
          <p:cNvSpPr/>
          <p:nvPr/>
        </p:nvSpPr>
        <p:spPr>
          <a:xfrm>
            <a:off x="9239250" y="6978650"/>
            <a:ext cx="419100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210" kern="0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SOL + LBN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13239750" y="4470400"/>
            <a:ext cx="3810000" cy="2393950"/>
          </a:xfrm>
          <a:prstGeom prst="rect">
            <a:avLst/>
          </a:prstGeom>
          <a:solidFill>
            <a:srgbClr val="0A0A0A"/>
          </a:solidFill>
          <a:ln w="6350">
            <a:solidFill>
              <a:srgbClr val="E4DFD7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4516100" y="5038725"/>
            <a:ext cx="1257300" cy="1257300"/>
          </a:xfrm>
          <a:prstGeom prst="ellipse">
            <a:avLst/>
          </a:prstGeom>
          <a:solidFill>
            <a:srgbClr val="FF4B0F"/>
          </a:solidFill>
          <a:ln/>
        </p:spPr>
      </p:sp>
      <p:sp>
        <p:nvSpPr>
          <p:cNvPr id="24" name="Text 18"/>
          <p:cNvSpPr/>
          <p:nvPr/>
        </p:nvSpPr>
        <p:spPr>
          <a:xfrm>
            <a:off x="14665127" y="5454650"/>
            <a:ext cx="1035348" cy="46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75" b="1" spc="-61" kern="0" dirty="0">
                <a:solidFill>
                  <a:srgbClr val="0A0A0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LBN</a:t>
            </a:r>
            <a:endParaRPr lang="en-US" sz="3075" dirty="0"/>
          </a:p>
        </p:txBody>
      </p:sp>
      <p:sp>
        <p:nvSpPr>
          <p:cNvPr id="25" name="Text 19"/>
          <p:cNvSpPr/>
          <p:nvPr/>
        </p:nvSpPr>
        <p:spPr>
          <a:xfrm>
            <a:off x="13239750" y="6978650"/>
            <a:ext cx="419100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210" kern="0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SELO — AVATAR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52500"/>
            <a:ext cx="3403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306" kern="0" dirty="0">
                <a:solidFill>
                  <a:srgbClr val="FF4B0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1673820" y="952500"/>
            <a:ext cx="333119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306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CONSTRUÇÃO DO SÍMBOLO</a:t>
            </a:r>
            <a:endParaRPr lang="en-US" sz="1275" dirty="0"/>
          </a:p>
        </p:txBody>
      </p:sp>
      <p:sp>
        <p:nvSpPr>
          <p:cNvPr id="4" name="Shape 2"/>
          <p:cNvSpPr/>
          <p:nvPr/>
        </p:nvSpPr>
        <p:spPr>
          <a:xfrm>
            <a:off x="1238250" y="2656284"/>
            <a:ext cx="1809750" cy="1809750"/>
          </a:xfrm>
          <a:prstGeom prst="rect">
            <a:avLst/>
          </a:prstGeom>
          <a:ln w="6350">
            <a:solidFill>
              <a:srgbClr val="2A272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7000" y="3288308"/>
            <a:ext cx="1492250" cy="5457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352800" y="3265884"/>
            <a:ext cx="4953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4B0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3300" dirty="0"/>
          </a:p>
        </p:txBody>
      </p:sp>
      <p:sp>
        <p:nvSpPr>
          <p:cNvPr id="7" name="Shape 4"/>
          <p:cNvSpPr/>
          <p:nvPr/>
        </p:nvSpPr>
        <p:spPr>
          <a:xfrm>
            <a:off x="4076700" y="2649934"/>
            <a:ext cx="1822450" cy="1822450"/>
          </a:xfrm>
          <a:prstGeom prst="rect">
            <a:avLst/>
          </a:prstGeom>
          <a:ln w="6350">
            <a:solidFill>
              <a:srgbClr val="2A272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083050" y="2656284"/>
            <a:ext cx="1809750" cy="1809750"/>
          </a:xfrm>
          <a:prstGeom prst="rect">
            <a:avLst/>
          </a:prstGeom>
          <a:gradFill rotWithShape="1">
            <a:gsLst>
              <a:gs pos="0">
                <a:srgbClr val="1E1B18">
                  <a:alpha val="100000"/>
                </a:srgbClr>
              </a:gs>
              <a:gs pos="100000">
                <a:srgbClr val="1E1B18">
                  <a:alpha val="0"/>
                </a:srgbClr>
              </a:gs>
            </a:gsLst>
            <a:lin ang="5400000" scaled="0"/>
          </a:gra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650" y="2884884"/>
            <a:ext cx="1352550" cy="13525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525000" y="1581150"/>
            <a:ext cx="7750492" cy="9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600"/>
              </a:lnSpc>
              <a:buNone/>
            </a:pPr>
            <a:r>
              <a:rPr lang="en-US" sz="3450" b="1" spc="-69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 SOL DO CEARÁ, REDESENHADO COMO REDE</a:t>
            </a:r>
            <a:endParaRPr lang="en-US" sz="3450" dirty="0"/>
          </a:p>
        </p:txBody>
      </p:sp>
      <p:sp>
        <p:nvSpPr>
          <p:cNvPr id="11" name="Text 7"/>
          <p:cNvSpPr/>
          <p:nvPr/>
        </p:nvSpPr>
        <p:spPr>
          <a:xfrm>
            <a:off x="9525000" y="2748756"/>
            <a:ext cx="7750492" cy="1439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571"/>
              </a:lnSpc>
              <a:buNone/>
            </a:pPr>
            <a:r>
              <a:rPr lang="en-US" sz="1725" dirty="0">
                <a:solidFill>
                  <a:srgbClr val="CFC9C1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O símbolo do Clube nasceu do adinkra </a:t>
            </a:r>
            <a:pPr algn="l" indent="0" marL="0">
              <a:lnSpc>
                <a:spcPct val="98571"/>
              </a:lnSpc>
              <a:buNone/>
            </a:pPr>
            <a:r>
              <a:rPr lang="en-US" sz="1725" i="1" dirty="0">
                <a:solidFill>
                  <a:srgbClr val="CFC9C1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Ananse Ntontan </a:t>
            </a:r>
            <a:pPr algn="l" indent="0" marL="0">
              <a:lnSpc>
                <a:spcPct val="98571"/>
              </a:lnSpc>
              <a:buNone/>
            </a:pPr>
            <a:r>
              <a:rPr lang="en-US" sz="1725" dirty="0">
                <a:solidFill>
                  <a:srgbClr val="CFC9C1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cruzado com o sol da Terra da Luz. A LBN herda esse gesto e o reconstrói em grade: um anel central — o coletivo — e doze raios idênticos, cada um uma conexão que sai da rede e volta para ela.</a:t>
            </a:r>
            <a:endParaRPr lang="en-US" sz="1725" dirty="0"/>
          </a:p>
        </p:txBody>
      </p:sp>
      <p:sp>
        <p:nvSpPr>
          <p:cNvPr id="12" name="Shape 8"/>
          <p:cNvSpPr/>
          <p:nvPr/>
        </p:nvSpPr>
        <p:spPr>
          <a:xfrm>
            <a:off x="9525000" y="4455319"/>
            <a:ext cx="7524750" cy="1085850"/>
          </a:xfrm>
          <a:prstGeom prst="rect">
            <a:avLst/>
          </a:prstGeom>
          <a:solidFill>
            <a:srgbClr val="2A2724"/>
          </a:solidFill>
          <a:ln/>
        </p:spPr>
      </p:sp>
      <p:sp>
        <p:nvSpPr>
          <p:cNvPr id="13" name="Shape 9"/>
          <p:cNvSpPr/>
          <p:nvPr/>
        </p:nvSpPr>
        <p:spPr>
          <a:xfrm>
            <a:off x="9525000" y="4455319"/>
            <a:ext cx="2495550" cy="10858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4" name="Text 10"/>
          <p:cNvSpPr/>
          <p:nvPr/>
        </p:nvSpPr>
        <p:spPr>
          <a:xfrm>
            <a:off x="9696450" y="4645819"/>
            <a:ext cx="236791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4B0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12</a:t>
            </a:r>
            <a:endParaRPr lang="en-US" sz="2850" dirty="0"/>
          </a:p>
        </p:txBody>
      </p:sp>
      <p:sp>
        <p:nvSpPr>
          <p:cNvPr id="15" name="Text 11"/>
          <p:cNvSpPr/>
          <p:nvPr/>
        </p:nvSpPr>
        <p:spPr>
          <a:xfrm>
            <a:off x="9696450" y="5096669"/>
            <a:ext cx="222885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8580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raios — conexões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12039600" y="4455319"/>
            <a:ext cx="2495550" cy="10858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7" name="Text 13"/>
          <p:cNvSpPr/>
          <p:nvPr/>
        </p:nvSpPr>
        <p:spPr>
          <a:xfrm>
            <a:off x="12211050" y="4645819"/>
            <a:ext cx="236791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4B0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</a:t>
            </a:r>
            <a:endParaRPr lang="en-US" sz="2850" dirty="0"/>
          </a:p>
        </p:txBody>
      </p:sp>
      <p:sp>
        <p:nvSpPr>
          <p:cNvPr id="18" name="Text 14"/>
          <p:cNvSpPr/>
          <p:nvPr/>
        </p:nvSpPr>
        <p:spPr>
          <a:xfrm>
            <a:off x="12211050" y="5096669"/>
            <a:ext cx="222885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8580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anel — o coletivo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14554200" y="4455319"/>
            <a:ext cx="2495550" cy="10858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0" name="Text 16"/>
          <p:cNvSpPr/>
          <p:nvPr/>
        </p:nvSpPr>
        <p:spPr>
          <a:xfrm>
            <a:off x="14725650" y="4645819"/>
            <a:ext cx="236791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4B0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30°</a:t>
            </a:r>
            <a:endParaRPr lang="en-US" sz="2850" dirty="0"/>
          </a:p>
        </p:txBody>
      </p:sp>
      <p:sp>
        <p:nvSpPr>
          <p:cNvPr id="21" name="Text 17"/>
          <p:cNvSpPr/>
          <p:nvPr/>
        </p:nvSpPr>
        <p:spPr>
          <a:xfrm>
            <a:off x="14725650" y="5096669"/>
            <a:ext cx="222885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8580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rotação constante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1238250" y="5998369"/>
            <a:ext cx="15811500" cy="2114550"/>
          </a:xfrm>
          <a:prstGeom prst="rect">
            <a:avLst/>
          </a:prstGeom>
          <a:solidFill>
            <a:srgbClr val="2A2724"/>
          </a:solidFill>
          <a:ln/>
        </p:spPr>
      </p:sp>
      <p:sp>
        <p:nvSpPr>
          <p:cNvPr id="23" name="Shape 19"/>
          <p:cNvSpPr/>
          <p:nvPr/>
        </p:nvSpPr>
        <p:spPr>
          <a:xfrm>
            <a:off x="1238250" y="5998369"/>
            <a:ext cx="3938588" cy="1714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9394" y="6417469"/>
            <a:ext cx="876300" cy="87630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5195888" y="5998369"/>
            <a:ext cx="3938588" cy="1714500"/>
          </a:xfrm>
          <a:prstGeom prst="rect">
            <a:avLst/>
          </a:prstGeom>
          <a:solidFill>
            <a:srgbClr val="0A0A0A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7031" y="6417469"/>
            <a:ext cx="876300" cy="87630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9153525" y="5998369"/>
            <a:ext cx="3938588" cy="1714500"/>
          </a:xfrm>
          <a:prstGeom prst="rect">
            <a:avLst/>
          </a:prstGeom>
          <a:solidFill>
            <a:srgbClr val="FF4B0F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4669" y="6417469"/>
            <a:ext cx="876300" cy="87630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13111163" y="5998369"/>
            <a:ext cx="3938588" cy="2114550"/>
          </a:xfrm>
          <a:prstGeom prst="rect">
            <a:avLst/>
          </a:prstGeom>
          <a:solidFill>
            <a:srgbClr val="F4F1EC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04181" y="7198519"/>
            <a:ext cx="514350" cy="514350"/>
          </a:xfrm>
          <a:prstGeom prst="rect">
            <a:avLst/>
          </a:prstGeom>
        </p:spPr>
      </p:pic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89981" y="7408069"/>
            <a:ext cx="304800" cy="304800"/>
          </a:xfrm>
          <a:prstGeom prst="rect">
            <a:avLst/>
          </a:prstGeom>
        </p:spPr>
      </p:pic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566231" y="7522369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52500"/>
            <a:ext cx="34051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306" kern="0" dirty="0">
                <a:solidFill>
                  <a:srgbClr val="FF4B0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1674019" y="952500"/>
            <a:ext cx="84683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306" kern="0" dirty="0">
                <a:solidFill>
                  <a:srgbClr val="0A0A0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CORES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238250" y="1504950"/>
            <a:ext cx="981075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1875" dirty="0">
                <a:solidFill>
                  <a:srgbClr val="4A453F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Três cores, hierarquia rígida. O preto carrega a institucionalidade, o laranja a energia e a herança, o branco abre respiro. Nenhuma quarta cor entra em peça institucional.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1238250" y="3028950"/>
            <a:ext cx="15811500" cy="3143250"/>
          </a:xfrm>
          <a:prstGeom prst="rect">
            <a:avLst/>
          </a:prstGeom>
          <a:solidFill>
            <a:srgbClr val="D8D2C9"/>
          </a:solidFill>
          <a:ln/>
        </p:spPr>
      </p:sp>
      <p:sp>
        <p:nvSpPr>
          <p:cNvPr id="6" name="Shape 4"/>
          <p:cNvSpPr/>
          <p:nvPr/>
        </p:nvSpPr>
        <p:spPr>
          <a:xfrm>
            <a:off x="1238250" y="3028950"/>
            <a:ext cx="5012730" cy="31432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1562100" y="3352800"/>
            <a:ext cx="4801533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47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PRETO LIBERTO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562100" y="4974134"/>
            <a:ext cx="4495981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#0A0A0A C0 M0 Y0 K96 R10 G10 B10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70030" y="3028950"/>
            <a:ext cx="3580507" cy="3143250"/>
          </a:xfrm>
          <a:prstGeom prst="rect">
            <a:avLst/>
          </a:prstGeom>
          <a:solidFill>
            <a:srgbClr val="FF4B0F"/>
          </a:solidFill>
          <a:ln/>
        </p:spPr>
      </p:sp>
      <p:sp>
        <p:nvSpPr>
          <p:cNvPr id="10" name="Text 8"/>
          <p:cNvSpPr/>
          <p:nvPr/>
        </p:nvSpPr>
        <p:spPr>
          <a:xfrm>
            <a:off x="6593880" y="3352800"/>
            <a:ext cx="322608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47" kern="0" dirty="0">
                <a:solidFill>
                  <a:srgbClr val="0A0A0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LARANJA REDE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6593880" y="4974134"/>
            <a:ext cx="3020791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#FF4B0F C0 M79 Y95 K0 R255 G75 B15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869587" y="3028950"/>
            <a:ext cx="3580507" cy="3143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193437" y="3352800"/>
            <a:ext cx="322608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47" kern="0" dirty="0">
                <a:solidFill>
                  <a:srgbClr val="0A0A0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BRANCO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0193437" y="4974134"/>
            <a:ext cx="3020791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#FFFFFF C0 M0 Y0 K0 R255 G255 B255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3469144" y="3028950"/>
            <a:ext cx="3580606" cy="314325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6" name="Text 14"/>
          <p:cNvSpPr/>
          <p:nvPr/>
        </p:nvSpPr>
        <p:spPr>
          <a:xfrm>
            <a:off x="13792994" y="3352800"/>
            <a:ext cx="3226197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47" kern="0" dirty="0">
                <a:solidFill>
                  <a:srgbClr val="0A0A0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AREIA — APOIO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3792994" y="4974134"/>
            <a:ext cx="3020894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#F4F1EC Fundo de documento e leitura longa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238250" y="6556375"/>
            <a:ext cx="7888883" cy="1524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9" name="Shape 17"/>
          <p:cNvSpPr/>
          <p:nvPr/>
        </p:nvSpPr>
        <p:spPr>
          <a:xfrm>
            <a:off x="9127133" y="6556375"/>
            <a:ext cx="1972270" cy="152400"/>
          </a:xfrm>
          <a:prstGeom prst="rect">
            <a:avLst/>
          </a:prstGeom>
          <a:solidFill>
            <a:srgbClr val="FF4B0F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99404" y="6556375"/>
            <a:ext cx="3287018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4767422" y="6553200"/>
            <a:ext cx="251056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25" kern="0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PROPORÇÃO 60 / 15 / 25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52500"/>
            <a:ext cx="34022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306" kern="0" dirty="0">
                <a:solidFill>
                  <a:srgbClr val="FF4B0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05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1673721" y="952500"/>
            <a:ext cx="152709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306" kern="0" dirty="0">
                <a:solidFill>
                  <a:srgbClr val="0A0A0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TIPOGRAFIA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238250" y="1543050"/>
            <a:ext cx="8329613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47" kern="0" dirty="0">
                <a:solidFill>
                  <a:srgbClr val="FF4B0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DISPLAY — TÍTULOS E LOGOTIPO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1238250" y="1873250"/>
            <a:ext cx="7799546" cy="1615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800"/>
              </a:lnSpc>
              <a:buNone/>
            </a:pPr>
            <a:r>
              <a:rPr lang="en-US" sz="6900" b="1" spc="-207" kern="0" dirty="0">
                <a:solidFill>
                  <a:srgbClr val="0A0A0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Archivo Expanded</a:t>
            </a:r>
            <a:endParaRPr lang="en-US" sz="6900" dirty="0"/>
          </a:p>
        </p:txBody>
      </p:sp>
      <p:sp>
        <p:nvSpPr>
          <p:cNvPr id="6" name="Text 4"/>
          <p:cNvSpPr/>
          <p:nvPr/>
        </p:nvSpPr>
        <p:spPr>
          <a:xfrm>
            <a:off x="1238250" y="3679031"/>
            <a:ext cx="7799546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950" b="1" dirty="0">
                <a:solidFill>
                  <a:srgbClr val="0A0A0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ABCDEFGHIJKLM NOPQRSTUVWXYZ 1234567890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38250" y="4501952"/>
            <a:ext cx="779954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959"/>
              </a:lnSpc>
              <a:buNone/>
            </a:pPr>
            <a:r>
              <a:rPr lang="en-US" sz="1500" dirty="0">
                <a:solidFill>
                  <a:srgbClr val="4A453F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Grotesca engenhada, de largura expandida. Mantém os cantos retos e a força do logotipo antigo, com acabamento corporativo. Pesos 600, 700 e 800.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477375" y="1543050"/>
            <a:ext cx="8329613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47" kern="0" dirty="0">
                <a:solidFill>
                  <a:srgbClr val="FF4B0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TEXTO — HERANÇA DO CLUBE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9477375" y="1873250"/>
            <a:ext cx="8329613" cy="870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7753"/>
              </a:lnSpc>
              <a:buNone/>
            </a:pPr>
            <a:r>
              <a:rPr lang="en-US" sz="6900" b="1" dirty="0">
                <a:solidFill>
                  <a:srgbClr val="0A0A0A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Luciole</a:t>
            </a:r>
            <a:endParaRPr lang="en-US" sz="6900" dirty="0"/>
          </a:p>
        </p:txBody>
      </p:sp>
      <p:sp>
        <p:nvSpPr>
          <p:cNvPr id="10" name="Text 8"/>
          <p:cNvSpPr/>
          <p:nvPr/>
        </p:nvSpPr>
        <p:spPr>
          <a:xfrm>
            <a:off x="9477375" y="2934295"/>
            <a:ext cx="7799546" cy="681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219"/>
              </a:lnSpc>
              <a:buNone/>
            </a:pPr>
            <a:r>
              <a:rPr lang="en-US" sz="1950" dirty="0">
                <a:solidFill>
                  <a:srgbClr val="0A0A0A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ABCDEFGHIJKLM NOPQRSTUVWXYZ 1234567890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477375" y="3806627"/>
            <a:ext cx="779954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959"/>
              </a:lnSpc>
              <a:buNone/>
            </a:pPr>
            <a:r>
              <a:rPr lang="en-US" sz="1500" dirty="0">
                <a:solidFill>
                  <a:srgbClr val="4A453F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Luciole permanece: tipografia de corpo do Clube dos Libertos, desenhada para alta legibilidade e acessibilidade. É o fio que une as duas marcas.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52500"/>
            <a:ext cx="3403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306" kern="0" dirty="0">
                <a:solidFill>
                  <a:srgbClr val="FF4B0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06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1673820" y="952500"/>
            <a:ext cx="146608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306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GRAFISMOS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238250" y="1504950"/>
            <a:ext cx="9810750" cy="1135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627"/>
              </a:lnSpc>
              <a:buNone/>
            </a:pPr>
            <a:r>
              <a:rPr lang="en-US" sz="1800" dirty="0">
                <a:solidFill>
                  <a:srgbClr val="CFC9C1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O mosaico colorido do Clube dá lugar a uma malha. Os adinkras seguem vivos no território do Clube dos Libertos e em peças de cultura, nunca em peça institucional da rede.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38250" y="2983111"/>
            <a:ext cx="5118100" cy="3810000"/>
          </a:xfrm>
          <a:prstGeom prst="rect">
            <a:avLst/>
          </a:prstGeom>
          <a:solidFill>
            <a:srgbClr val="FF4B0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250" y="2983111"/>
            <a:ext cx="5118100" cy="3810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8250" y="6926461"/>
            <a:ext cx="562991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MALHA SOL — PADRONAGEM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584950" y="2983111"/>
            <a:ext cx="5118100" cy="3810000"/>
          </a:xfrm>
          <a:prstGeom prst="rect">
            <a:avLst/>
          </a:prstGeom>
          <a:solidFill>
            <a:srgbClr val="141311"/>
          </a:solidFill>
          <a:ln/>
        </p:spPr>
      </p:sp>
      <p:sp>
        <p:nvSpPr>
          <p:cNvPr id="9" name="Shape 6"/>
          <p:cNvSpPr/>
          <p:nvPr/>
        </p:nvSpPr>
        <p:spPr>
          <a:xfrm>
            <a:off x="6584950" y="4224536"/>
            <a:ext cx="5118100" cy="577850"/>
          </a:xfrm>
          <a:prstGeom prst="rect">
            <a:avLst/>
          </a:prstGeom>
          <a:solidFill>
            <a:srgbClr val="FF4B0F"/>
          </a:solidFill>
          <a:ln/>
        </p:spPr>
      </p:sp>
      <p:sp>
        <p:nvSpPr>
          <p:cNvPr id="10" name="Text 7"/>
          <p:cNvSpPr/>
          <p:nvPr/>
        </p:nvSpPr>
        <p:spPr>
          <a:xfrm>
            <a:off x="6584950" y="4357886"/>
            <a:ext cx="5578068" cy="349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135" kern="0" dirty="0">
                <a:solidFill>
                  <a:srgbClr val="0A0A0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LIBERTOS BLACK NETWORK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1903571" y="4357886"/>
            <a:ext cx="200223" cy="349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135" kern="0" dirty="0">
                <a:solidFill>
                  <a:srgbClr val="0A0A0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·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2275245" y="4357886"/>
            <a:ext cx="5578068" cy="349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135" kern="0" dirty="0">
                <a:solidFill>
                  <a:srgbClr val="0A0A0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LIBERTOS BLACK NETWORK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6584950" y="4973836"/>
            <a:ext cx="5118100" cy="577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6584950" y="5107186"/>
            <a:ext cx="3340904" cy="349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135" kern="0" dirty="0">
                <a:solidFill>
                  <a:srgbClr val="0A0A0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ENCONTRO 2026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9869786" y="5107186"/>
            <a:ext cx="200223" cy="349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135" kern="0" dirty="0">
                <a:solidFill>
                  <a:srgbClr val="0A0A0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·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10241459" y="5107186"/>
            <a:ext cx="3340904" cy="349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135" kern="0" dirty="0">
                <a:solidFill>
                  <a:srgbClr val="0A0A0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ENCONTRO 2026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6584950" y="6926461"/>
            <a:ext cx="562991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FAIXA TIPOGRÁFICA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1931651" y="2983111"/>
            <a:ext cx="1279525" cy="1270000"/>
          </a:xfrm>
          <a:prstGeom prst="rect">
            <a:avLst/>
          </a:prstGeom>
          <a:solidFill>
            <a:srgbClr val="0A0A0A"/>
          </a:solidFill>
          <a:ln w="6350">
            <a:solidFill>
              <a:srgbClr val="2A272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3211175" y="2983111"/>
            <a:ext cx="1279525" cy="1270000"/>
          </a:xfrm>
          <a:prstGeom prst="rect">
            <a:avLst/>
          </a:prstGeom>
          <a:solidFill>
            <a:srgbClr val="FF4B0F"/>
          </a:solidFill>
          <a:ln/>
        </p:spPr>
      </p:sp>
      <p:sp>
        <p:nvSpPr>
          <p:cNvPr id="20" name="Shape 17"/>
          <p:cNvSpPr/>
          <p:nvPr/>
        </p:nvSpPr>
        <p:spPr>
          <a:xfrm>
            <a:off x="14490700" y="2983111"/>
            <a:ext cx="1279525" cy="1270000"/>
          </a:xfrm>
          <a:prstGeom prst="rect">
            <a:avLst/>
          </a:prstGeom>
          <a:solidFill>
            <a:srgbClr val="0A0A0A"/>
          </a:solidFill>
          <a:ln w="6350">
            <a:solidFill>
              <a:srgbClr val="2A272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5770226" y="2983111"/>
            <a:ext cx="1279525" cy="127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11931651" y="4253111"/>
            <a:ext cx="1279525" cy="1270000"/>
          </a:xfrm>
          <a:prstGeom prst="rect">
            <a:avLst/>
          </a:prstGeom>
          <a:solidFill>
            <a:srgbClr val="FF4B0F"/>
          </a:solidFill>
          <a:ln/>
        </p:spPr>
      </p:sp>
      <p:sp>
        <p:nvSpPr>
          <p:cNvPr id="23" name="Shape 20"/>
          <p:cNvSpPr/>
          <p:nvPr/>
        </p:nvSpPr>
        <p:spPr>
          <a:xfrm>
            <a:off x="13211175" y="4253111"/>
            <a:ext cx="1279525" cy="1270000"/>
          </a:xfrm>
          <a:prstGeom prst="rect">
            <a:avLst/>
          </a:prstGeom>
          <a:solidFill>
            <a:srgbClr val="0A0A0A"/>
          </a:solidFill>
          <a:ln w="6350">
            <a:solidFill>
              <a:srgbClr val="2A272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4490700" y="4253111"/>
            <a:ext cx="1279525" cy="127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15770226" y="4253111"/>
            <a:ext cx="1279525" cy="1270000"/>
          </a:xfrm>
          <a:prstGeom prst="rect">
            <a:avLst/>
          </a:prstGeom>
          <a:solidFill>
            <a:srgbClr val="0A0A0A"/>
          </a:solidFill>
          <a:ln w="6350">
            <a:solidFill>
              <a:srgbClr val="2A272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1931651" y="5523111"/>
            <a:ext cx="1279525" cy="1270000"/>
          </a:xfrm>
          <a:prstGeom prst="rect">
            <a:avLst/>
          </a:prstGeom>
          <a:solidFill>
            <a:srgbClr val="0A0A0A"/>
          </a:solidFill>
          <a:ln w="6350">
            <a:solidFill>
              <a:srgbClr val="2A272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3211175" y="5523111"/>
            <a:ext cx="1279525" cy="127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14490700" y="5523111"/>
            <a:ext cx="1279525" cy="1270000"/>
          </a:xfrm>
          <a:prstGeom prst="rect">
            <a:avLst/>
          </a:prstGeom>
          <a:solidFill>
            <a:srgbClr val="FF4B0F"/>
          </a:solidFill>
          <a:ln/>
        </p:spPr>
      </p:sp>
      <p:sp>
        <p:nvSpPr>
          <p:cNvPr id="29" name="Shape 26"/>
          <p:cNvSpPr/>
          <p:nvPr/>
        </p:nvSpPr>
        <p:spPr>
          <a:xfrm>
            <a:off x="15770226" y="5523111"/>
            <a:ext cx="1279525" cy="1270000"/>
          </a:xfrm>
          <a:prstGeom prst="rect">
            <a:avLst/>
          </a:prstGeom>
          <a:solidFill>
            <a:srgbClr val="0A0A0A"/>
          </a:solidFill>
          <a:ln w="6350">
            <a:solidFill>
              <a:srgbClr val="2A272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1931651" y="6926461"/>
            <a:ext cx="562991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GRADE DE BLOCOS — DIVISOR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3403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306" kern="0" dirty="0">
                <a:solidFill>
                  <a:srgbClr val="FF4B0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07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1673820" y="857250"/>
            <a:ext cx="31285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306" kern="0" dirty="0">
                <a:solidFill>
                  <a:srgbClr val="0A0A0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ARQUITETURA DE MARCA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238250" y="1314450"/>
            <a:ext cx="1739265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00"/>
              </a:lnSpc>
              <a:buNone/>
            </a:pPr>
            <a:r>
              <a:rPr lang="en-US" sz="3900" b="1" spc="-78" kern="0" dirty="0">
                <a:solidFill>
                  <a:srgbClr val="0A0A0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MARCA-MÃE COM ENDOSSO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7369175" y="2120205"/>
            <a:ext cx="3549551" cy="1028700"/>
          </a:xfrm>
          <a:prstGeom prst="rect">
            <a:avLst/>
          </a:prstGeom>
          <a:solidFill>
            <a:srgbClr val="0A0A0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8275" y="2367855"/>
            <a:ext cx="533400" cy="53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50275" y="2376289"/>
            <a:ext cx="2144286" cy="313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411"/>
              </a:lnSpc>
              <a:buNone/>
            </a:pPr>
            <a:r>
              <a:rPr lang="en-US" sz="2550" b="1" spc="-51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LIBERTOS</a:t>
            </a:r>
            <a:endParaRPr lang="en-US" sz="2550" dirty="0"/>
          </a:p>
        </p:txBody>
      </p:sp>
      <p:sp>
        <p:nvSpPr>
          <p:cNvPr id="8" name="Shape 5"/>
          <p:cNvSpPr/>
          <p:nvPr/>
        </p:nvSpPr>
        <p:spPr>
          <a:xfrm>
            <a:off x="8550275" y="2718197"/>
            <a:ext cx="1949351" cy="25400"/>
          </a:xfrm>
          <a:prstGeom prst="rect">
            <a:avLst/>
          </a:prstGeom>
          <a:solidFill>
            <a:srgbClr val="FF4B0F"/>
          </a:solidFill>
          <a:ln/>
        </p:spPr>
      </p:sp>
      <p:sp>
        <p:nvSpPr>
          <p:cNvPr id="9" name="Text 6"/>
          <p:cNvSpPr/>
          <p:nvPr/>
        </p:nvSpPr>
        <p:spPr>
          <a:xfrm>
            <a:off x="8550275" y="2791222"/>
            <a:ext cx="2025551" cy="139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42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BLACK NETWORK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9134475" y="3148905"/>
            <a:ext cx="19050" cy="323850"/>
          </a:xfrm>
          <a:prstGeom prst="rect">
            <a:avLst/>
          </a:prstGeom>
          <a:solidFill>
            <a:srgbClr val="C9C2B7"/>
          </a:solidFill>
          <a:ln/>
        </p:spPr>
      </p:sp>
      <p:sp>
        <p:nvSpPr>
          <p:cNvPr id="11" name="Shape 8"/>
          <p:cNvSpPr/>
          <p:nvPr/>
        </p:nvSpPr>
        <p:spPr>
          <a:xfrm>
            <a:off x="4857750" y="3472755"/>
            <a:ext cx="8572500" cy="19050"/>
          </a:xfrm>
          <a:prstGeom prst="rect">
            <a:avLst/>
          </a:prstGeom>
          <a:solidFill>
            <a:srgbClr val="C9C2B7"/>
          </a:solidFill>
          <a:ln/>
        </p:spPr>
      </p:sp>
      <p:sp>
        <p:nvSpPr>
          <p:cNvPr id="12" name="Shape 9"/>
          <p:cNvSpPr/>
          <p:nvPr/>
        </p:nvSpPr>
        <p:spPr>
          <a:xfrm>
            <a:off x="4857750" y="3491805"/>
            <a:ext cx="19050" cy="323850"/>
          </a:xfrm>
          <a:prstGeom prst="rect">
            <a:avLst/>
          </a:prstGeom>
          <a:solidFill>
            <a:srgbClr val="C9C2B7"/>
          </a:solidFill>
          <a:ln/>
        </p:spPr>
      </p:sp>
      <p:sp>
        <p:nvSpPr>
          <p:cNvPr id="13" name="Shape 10"/>
          <p:cNvSpPr/>
          <p:nvPr/>
        </p:nvSpPr>
        <p:spPr>
          <a:xfrm>
            <a:off x="13411200" y="3491805"/>
            <a:ext cx="19050" cy="323850"/>
          </a:xfrm>
          <a:prstGeom prst="rect">
            <a:avLst/>
          </a:prstGeom>
          <a:solidFill>
            <a:srgbClr val="C9C2B7"/>
          </a:solidFill>
          <a:ln/>
        </p:spPr>
      </p:sp>
      <p:sp>
        <p:nvSpPr>
          <p:cNvPr id="14" name="Shape 11"/>
          <p:cNvSpPr/>
          <p:nvPr/>
        </p:nvSpPr>
        <p:spPr>
          <a:xfrm>
            <a:off x="4857750" y="3815655"/>
            <a:ext cx="4000500" cy="2583061"/>
          </a:xfrm>
          <a:prstGeom prst="rect">
            <a:avLst/>
          </a:prstGeom>
          <a:solidFill>
            <a:srgbClr val="FFFFFF"/>
          </a:solidFill>
          <a:ln w="6350">
            <a:solidFill>
              <a:srgbClr val="E4DFD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750" y="3918446"/>
            <a:ext cx="2286000" cy="83591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111750" y="4755456"/>
            <a:ext cx="3492500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7" name="Text 13"/>
          <p:cNvSpPr/>
          <p:nvPr/>
        </p:nvSpPr>
        <p:spPr>
          <a:xfrm>
            <a:off x="5111750" y="4895156"/>
            <a:ext cx="3597275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935"/>
              </a:lnSpc>
              <a:buNone/>
            </a:pPr>
            <a:r>
              <a:rPr lang="en-US" sz="1425" dirty="0">
                <a:solidFill>
                  <a:srgbClr val="4A453F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Letramento racial e aquilombamento. Mantém logotipo, adinkras e paleta próprios.</a:t>
            </a:r>
            <a:endParaRPr lang="en-US" sz="1425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750" y="5898555"/>
            <a:ext cx="209550" cy="2095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35600" y="5861943"/>
            <a:ext cx="1851323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029"/>
              </a:lnSpc>
              <a:buNone/>
            </a:pPr>
            <a:r>
              <a:rPr lang="en-US" sz="825" b="1" spc="116" kern="0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UMA INICIATIVA LIBERTOS BLACK NETWORK</a:t>
            </a:r>
            <a:endParaRPr lang="en-US" sz="825" dirty="0"/>
          </a:p>
        </p:txBody>
      </p:sp>
      <p:sp>
        <p:nvSpPr>
          <p:cNvPr id="20" name="Shape 15"/>
          <p:cNvSpPr/>
          <p:nvPr/>
        </p:nvSpPr>
        <p:spPr>
          <a:xfrm>
            <a:off x="9429750" y="3815655"/>
            <a:ext cx="4000500" cy="2583061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1" name="Text 16"/>
          <p:cNvSpPr/>
          <p:nvPr/>
        </p:nvSpPr>
        <p:spPr>
          <a:xfrm>
            <a:off x="9677400" y="4015680"/>
            <a:ext cx="38557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27" kern="0" dirty="0">
                <a:solidFill>
                  <a:srgbClr val="FF4B0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ENCONTRO</a:t>
            </a:r>
            <a:endParaRPr lang="en-US" sz="1275" dirty="0"/>
          </a:p>
        </p:txBody>
      </p:sp>
      <p:sp>
        <p:nvSpPr>
          <p:cNvPr id="22" name="Text 17"/>
          <p:cNvSpPr/>
          <p:nvPr/>
        </p:nvSpPr>
        <p:spPr>
          <a:xfrm>
            <a:off x="9677400" y="4187130"/>
            <a:ext cx="361035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LIBERTOS BLACK NETWORK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9677400" y="4749105"/>
            <a:ext cx="3505200" cy="9525"/>
          </a:xfrm>
          <a:prstGeom prst="rect">
            <a:avLst/>
          </a:prstGeom>
          <a:solidFill>
            <a:srgbClr val="2A2724"/>
          </a:solidFill>
          <a:ln/>
        </p:spPr>
      </p:sp>
      <p:sp>
        <p:nvSpPr>
          <p:cNvPr id="24" name="Text 19"/>
          <p:cNvSpPr/>
          <p:nvPr/>
        </p:nvSpPr>
        <p:spPr>
          <a:xfrm>
            <a:off x="9677400" y="4888805"/>
            <a:ext cx="3610356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935"/>
              </a:lnSpc>
              <a:buNone/>
            </a:pPr>
            <a:r>
              <a:rPr lang="en-US" sz="1425" dirty="0">
                <a:solidFill>
                  <a:srgbClr val="CFC9C1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Encontro presencial anual. Usa a identidade da rede, com o ano como assinatura.</a:t>
            </a:r>
            <a:endParaRPr lang="en-US" sz="1425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400" y="5892205"/>
            <a:ext cx="209550" cy="20955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001250" y="5855593"/>
            <a:ext cx="140970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029"/>
              </a:lnSpc>
              <a:buNone/>
            </a:pPr>
            <a:r>
              <a:rPr lang="en-US" sz="825" b="1" spc="116" kern="0" dirty="0">
                <a:solidFill>
                  <a:srgbClr val="8A85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MARCA DE PRODUTO DA REDE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52500"/>
            <a:ext cx="3403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306" kern="0" dirty="0">
                <a:solidFill>
                  <a:srgbClr val="FF4B0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08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1673820" y="952500"/>
            <a:ext cx="485446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306" kern="0" dirty="0">
                <a:solidFill>
                  <a:srgbClr val="0A0A0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ENCONTRO LIBERTOS BLACK NETWORK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238250" y="1504950"/>
            <a:ext cx="10301288" cy="1135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627"/>
              </a:lnSpc>
              <a:buNone/>
            </a:pPr>
            <a:r>
              <a:rPr lang="en-US" sz="1800" dirty="0">
                <a:solidFill>
                  <a:srgbClr val="4A453F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O evento não ganha logo próprio. Ganha um bloco de assinatura: ENCONTRO em laranja sobre o nome da rede, e o ano como carimbo. Cada edição se acumula na mesma marca em vez de dispersá-la.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38250" y="2983111"/>
            <a:ext cx="15811500" cy="2603500"/>
          </a:xfrm>
          <a:prstGeom prst="rect">
            <a:avLst/>
          </a:prstGeom>
          <a:ln w="6350">
            <a:solidFill>
              <a:srgbClr val="E4DFD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0817" y="3684786"/>
            <a:ext cx="1200150" cy="12001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14367" y="3525738"/>
            <a:ext cx="643984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647"/>
              </a:lnSpc>
              <a:buNone/>
            </a:pPr>
            <a:r>
              <a:rPr lang="en-US" sz="3150" b="1" spc="410" kern="0" dirty="0">
                <a:solidFill>
                  <a:srgbClr val="FF4B0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ENCONTRO</a:t>
            </a:r>
            <a:endParaRPr lang="en-US" sz="3150" dirty="0"/>
          </a:p>
        </p:txBody>
      </p:sp>
      <p:sp>
        <p:nvSpPr>
          <p:cNvPr id="8" name="Text 5"/>
          <p:cNvSpPr/>
          <p:nvPr/>
        </p:nvSpPr>
        <p:spPr>
          <a:xfrm>
            <a:off x="5414367" y="3992463"/>
            <a:ext cx="6030035" cy="1089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490"/>
              </a:lnSpc>
              <a:buNone/>
            </a:pPr>
            <a:r>
              <a:rPr lang="en-US" sz="4500" b="1" spc="-112" kern="0" dirty="0">
                <a:solidFill>
                  <a:srgbClr val="0A0A0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LIBERTOS BLACK NETWORK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11802170" y="3522861"/>
            <a:ext cx="19050" cy="152400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0" name="Text 7"/>
          <p:cNvSpPr/>
          <p:nvPr/>
        </p:nvSpPr>
        <p:spPr>
          <a:xfrm>
            <a:off x="12354620" y="3859411"/>
            <a:ext cx="2477820" cy="889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150" b="1" spc="-123" kern="0" dirty="0">
                <a:solidFill>
                  <a:srgbClr val="0A0A0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2026</a:t>
            </a:r>
            <a:endParaRPr lang="en-US" sz="6150" dirty="0"/>
          </a:p>
        </p:txBody>
      </p:sp>
      <p:sp>
        <p:nvSpPr>
          <p:cNvPr id="11" name="Text 8"/>
          <p:cNvSpPr/>
          <p:nvPr/>
        </p:nvSpPr>
        <p:spPr>
          <a:xfrm>
            <a:off x="1238250" y="5967611"/>
            <a:ext cx="162858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A8580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Aplicações: crachá, banner de palco, fundo de call, cartão e posts — no board completo em HTML.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52500"/>
            <a:ext cx="34022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306" kern="0" dirty="0">
                <a:solidFill>
                  <a:srgbClr val="FF4B0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09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1673721" y="952500"/>
            <a:ext cx="158810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306" kern="0" dirty="0">
                <a:solidFill>
                  <a:srgbClr val="0A0A0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RESTRIÇÕES</a:t>
            </a:r>
            <a:endParaRPr lang="en-US" sz="1275" dirty="0"/>
          </a:p>
        </p:txBody>
      </p:sp>
      <p:sp>
        <p:nvSpPr>
          <p:cNvPr id="4" name="Shape 2"/>
          <p:cNvSpPr/>
          <p:nvPr/>
        </p:nvSpPr>
        <p:spPr>
          <a:xfrm>
            <a:off x="1238250" y="1543050"/>
            <a:ext cx="3781425" cy="248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DFD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840000">
            <a:off x="2843213" y="2311400"/>
            <a:ext cx="571500" cy="952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38250" y="4165600"/>
            <a:ext cx="190500" cy="1905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7" name="Text 4"/>
          <p:cNvSpPr/>
          <p:nvPr/>
        </p:nvSpPr>
        <p:spPr>
          <a:xfrm>
            <a:off x="1200150" y="416560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375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×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1524000" y="4165600"/>
            <a:ext cx="2843550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1350" dirty="0">
                <a:solidFill>
                  <a:srgbClr val="4A453F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Distorcer ou inclinar o símbolo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248275" y="1543050"/>
            <a:ext cx="3781425" cy="248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DFD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738" y="2311400"/>
            <a:ext cx="952500" cy="9525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248275" y="4165600"/>
            <a:ext cx="190500" cy="1905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2" name="Text 8"/>
          <p:cNvSpPr/>
          <p:nvPr/>
        </p:nvSpPr>
        <p:spPr>
          <a:xfrm>
            <a:off x="5210175" y="416560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375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×</a:t>
            </a:r>
            <a:endParaRPr lang="en-US" sz="975" dirty="0"/>
          </a:p>
        </p:txBody>
      </p:sp>
      <p:sp>
        <p:nvSpPr>
          <p:cNvPr id="13" name="Text 9"/>
          <p:cNvSpPr/>
          <p:nvPr/>
        </p:nvSpPr>
        <p:spPr>
          <a:xfrm>
            <a:off x="5534025" y="4165600"/>
            <a:ext cx="3064669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1350" dirty="0">
                <a:solidFill>
                  <a:srgbClr val="4A453F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Cores fora das três institucionais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9258300" y="1543050"/>
            <a:ext cx="3781425" cy="248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DFD7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3158" y="2482850"/>
            <a:ext cx="609600" cy="609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028958" y="2616200"/>
            <a:ext cx="10020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A0A0A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Libertos</a:t>
            </a:r>
            <a:endParaRPr lang="en-US" sz="1650" dirty="0"/>
          </a:p>
        </p:txBody>
      </p:sp>
      <p:sp>
        <p:nvSpPr>
          <p:cNvPr id="17" name="Shape 12"/>
          <p:cNvSpPr/>
          <p:nvPr/>
        </p:nvSpPr>
        <p:spPr>
          <a:xfrm>
            <a:off x="9258300" y="4165600"/>
            <a:ext cx="190500" cy="1905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8" name="Text 13"/>
          <p:cNvSpPr/>
          <p:nvPr/>
        </p:nvSpPr>
        <p:spPr>
          <a:xfrm>
            <a:off x="9220200" y="416560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375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×</a:t>
            </a:r>
            <a:endParaRPr lang="en-US" sz="975" dirty="0"/>
          </a:p>
        </p:txBody>
      </p:sp>
      <p:sp>
        <p:nvSpPr>
          <p:cNvPr id="19" name="Text 14"/>
          <p:cNvSpPr/>
          <p:nvPr/>
        </p:nvSpPr>
        <p:spPr>
          <a:xfrm>
            <a:off x="9544050" y="4165600"/>
            <a:ext cx="3600545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1350" dirty="0">
                <a:solidFill>
                  <a:srgbClr val="4A453F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Recompor o logotipo com outra tipografia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13268325" y="1543050"/>
            <a:ext cx="3781425" cy="248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DFD7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14465796" y="1978025"/>
            <a:ext cx="1386483" cy="1619250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20887" y="2349500"/>
            <a:ext cx="876300" cy="87630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13268325" y="4165600"/>
            <a:ext cx="190500" cy="1905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4" name="Text 17"/>
          <p:cNvSpPr/>
          <p:nvPr/>
        </p:nvSpPr>
        <p:spPr>
          <a:xfrm>
            <a:off x="13230225" y="416560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375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×</a:t>
            </a:r>
            <a:endParaRPr lang="en-US" sz="975" dirty="0"/>
          </a:p>
        </p:txBody>
      </p:sp>
      <p:sp>
        <p:nvSpPr>
          <p:cNvPr id="25" name="Text 18"/>
          <p:cNvSpPr/>
          <p:nvPr/>
        </p:nvSpPr>
        <p:spPr>
          <a:xfrm>
            <a:off x="13554075" y="4165600"/>
            <a:ext cx="3600545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1350" dirty="0">
                <a:solidFill>
                  <a:srgbClr val="4A453F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Misturar grafismos do Clube na marca da rede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6845102"/>
            <a:ext cx="9810750" cy="145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97"/>
              </a:lnSpc>
              <a:buNone/>
            </a:pPr>
            <a:r>
              <a:rPr lang="en-US" sz="5700" b="1" spc="-171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NINGUÉM ENTRA SOZINHO NA SALA</a:t>
            </a:r>
            <a:endParaRPr lang="en-US" sz="5700" dirty="0"/>
          </a:p>
        </p:txBody>
      </p:sp>
      <p:sp>
        <p:nvSpPr>
          <p:cNvPr id="4" name="Text 1"/>
          <p:cNvSpPr/>
          <p:nvPr/>
        </p:nvSpPr>
        <p:spPr>
          <a:xfrm>
            <a:off x="1238250" y="8568730"/>
            <a:ext cx="6867525" cy="7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78"/>
              </a:lnSpc>
              <a:buNone/>
            </a:pPr>
            <a:r>
              <a:rPr lang="en-US" sz="1650" dirty="0">
                <a:solidFill>
                  <a:srgbClr val="8A8580"/>
                </a:solidFill>
                <a:latin typeface="Luciole" pitchFamily="34" charset="0"/>
                <a:ea typeface="Luciole" pitchFamily="34" charset="-122"/>
                <a:cs typeface="Luciole" pitchFamily="34" charset="-120"/>
              </a:rPr>
              <a:t>Proposta de identidade visual — Libertos Black Network. Base: Manual de Marca e Briefing do Clube dos Libertos.</a:t>
            </a:r>
            <a:endParaRPr lang="en-US" sz="16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5750" y="7715250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2026-09-01T11:55:17Z</dcterms:created>
  <dcterms:modified xsi:type="dcterms:W3CDTF">2026-09-01T11:55:17Z</dcterms:modified>
</cp:coreProperties>
</file>